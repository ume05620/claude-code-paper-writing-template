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12680" y="32004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200" b="1" lang="ja-JP" altLang="en-US">
                <a:solidFill>
                  <a:srgbClr val="2E75B6"/>
                </a:solidFill>
                <a:latin typeface="Yu Gothic"/>
                <a:ea typeface="Yu Gothic"/>
              </a:rPr>
              <a:t>膵癌NACRT研究|第二評価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38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Patholoscopeを使ったCD8計測の手順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2011680" cy="640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0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撮影 → 計測設定(レシピ) → 一括計測 → 目で見て修正 → 保存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4572000"/>
            <a:ext cx="10442448" cy="8229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 eaLnBrk="1" hangingPunct="1">
              <a:lnSpc>
                <a:spcPct val="110000"/>
              </a:lnSpc>
              <a:spcAft>
                <a:spcPts val="2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作業の開始は、倫理委員会の承認と研究分担者への追加の後です。それまでは手順の確認だけにしてください。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4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梅宮 和真(放射線腫瘍学講座)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全体の流れ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482852" cy="1143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① 準備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インストール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ライセンスキー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95499" y="195224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70404" y="1554480"/>
            <a:ext cx="1482852" cy="1143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② 撮影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1例4視野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×200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17264" y="195224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2168" y="1554480"/>
            <a:ext cx="1482852" cy="1143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③ レシピ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数枚で設定を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決めて固定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39028" y="195224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3932" y="1554480"/>
            <a:ext cx="1482852" cy="1143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④ 一括計測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連続実行で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症例ごとに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0792" y="195224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554480"/>
            <a:ext cx="1482852" cy="1143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⑤ 修正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誤認識を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目で見て直す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82556" y="195224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57460" y="1554480"/>
            <a:ext cx="1482852" cy="11430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⑥ 保存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結果と画像を</a:t>
            </a:r>
          </a:p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2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提出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1091672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・数えるのは、各視野の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CD8陽性細胞の数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です。最終的な数は、⑤で修正した後の値です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・自動カウントは、あくまで修正作業の下書きです。以前は背景を陽性と拾う誤りが多く、1枚100個以上を直していました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・②の撮影と③のレシピで、この誤りを減らすのがこの手順のねらいです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・1人目の計測値や撮影画像、どの症例が術前治療を受けたかは伝えません(独立評価のため)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① 準備：インストールとライセンスキー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インストール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CDの Setup.exe を実行し、[Install Patholoscope] を選ぶ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ライセンスキー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USBのキーを差したときだけ起動する。キーは1本なので梅宮と受け渡しする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動作環境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Windows 10以前(マニュアルの記載)。Windows 11での動作は</a:t>
                      </a:r>
                      <a:r>
                        <a:rPr sz="1500" b="1" lang="ja-JP" altLang="en-US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【要確認】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画面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解像度1280×1024以上、USBの空きポート1つ以上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使うバージョン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ver 1.8.0(論文のMethodsに記載している版)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・マニュアル(Version 1.6)は梅宮が保管している。画面の項目名が1.8.0と少し違う可能性がある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② 撮影のルール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・腫瘍内と浸潤先端部から、CD8陽性リンパ球が多い所(ホットスポット)を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4視野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、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×200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で撮る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・非腫瘍部や、組織が壊れている所は撮らない。4枚が同じ場所に重ならないようにする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撮影を始める前に、細胞のない所でホワイトバランスを取り、全視野で同じ明るさ・ホワイトバランスで撮る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(背景の黄ばみが偽陽性の主な原因)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・JPEGは高画質で保存し、縮小や切り抜きはしない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31920"/>
          <a:ext cx="11091672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保存の仕方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例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症例ごとにフォルダを作る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images\A01\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ファイル名は 症例コード_CD8_視野番号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A01_CD8_1.jpg ～ A01_CD8_4.jpg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③ レシピ(計測設定)の主な項目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1" cy="43891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4560"/>
                <a:gridCol w="7799831"/>
                <a:gridCol w="10972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設定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CD8での設定方針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マニュアル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観察法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明視野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陽性・陰性の抽出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[任意色指定]。濃い褐色の細胞(陽性)と青い細胞(陰性)をスポイトでクリック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p9, p14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陽性判定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[○%以上が陽性エリア]にして、背景を拾わない%を探す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細胞分離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サイズはリンパ球に合わせる。染色濃度は淡い所を拾いすぎない位置に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p12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計測エリア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[画像全体]</a:t>
                      </a:r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([自動]は細胞の密な所だけを選ぶので使わない)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粒子の削除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使わない(0)</a:t>
                      </a:r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。小さい粒子=リンパ球を消す機能なので、CD8陽性細胞が消える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p16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ホワイトバランス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撮影時に固定したなら不要。使うなら背景の同じような所をクリック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p11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③ レシピの決め方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1. 自分が撮った画像から、背景の多いもの・少ないものを含めて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3枚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選ぶ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2. 3枚を目で見て修正し、「正しい数」を決める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3. 設定を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1つずつ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変えて自動カウントし、正しい数とのずれ(とくに背景を陽性と拾った数)を記録表に書く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4. ずれが一番小さい設定を、[レシピ保存]で「CD8_recipe_v1」として保存する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5. 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全症例の計測を始めたら、レシピは変えない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73152" cy="1097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4572000"/>
            <a:ext cx="11018520" cy="109728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記録表は梅宮が用意します。梅宮は設定ごとのずれの比較だけを見て、どれがよいかを一緒に考えます。あなたの画像の数を梅宮が数えることはありません。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④ 連続実行で一括計測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1. [連続実行]タブで、検査の種類(CD8用に設定したタブ)を選ぶ(p39)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2. 画像ソースは[画像ファイル]。計測する症例のフォルダ(例: images\A01\)を指定する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3. サンプル名に</a:t>
            </a:r>
            <a:r>
              <a:rPr sz="16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症例コード</a:t>
            </a: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を入れる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4. [環境設定]-[連続実行]で結果の保存先を指定し、</a:t>
            </a:r>
            <a:r>
              <a:rPr sz="16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[確認用画像も保存する]</a:t>
            </a: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にチェック(p40)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5. [環境設定]-[データ転送]で</a:t>
            </a:r>
            <a:r>
              <a:rPr sz="16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CSV出力</a:t>
            </a: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、</a:t>
            </a:r>
            <a:r>
              <a:rPr sz="16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[連続実行時は画像別シートも出力する]</a:t>
            </a: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にチェック(p40)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6. [連続実行開始]。4枚が自動で計測される。終わったら[連続実行停止](p41)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600"/>
              </a:spcAft>
            </a:pPr>
            <a:r>
              <a:rPr sz="14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・結果は「保存先\サンプル名\計測日時\」に保存される(計測結果.xml、確認用画像のPrevフォルダ)(p45)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⑤ 目で見て修正する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086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700" b="1" lang="ja-JP" altLang="en-US">
                <a:solidFill>
                  <a:srgbClr val="FFFFFF"/>
                </a:solidFill>
                <a:latin typeface="Yu Gothic"/>
                <a:ea typeface="Yu Gothic"/>
              </a:rPr>
              <a:t>削除・陰性にするもの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08676" cy="2468880"/>
          </a:xfrm>
          <a:prstGeom prst="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 eaLnBrk="1" hangingPunct="1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・背景や間質の淡い染まり</a:t>
            </a:r>
          </a:p>
          <a:p>
            <a:pPr algn="l" eaLnBrk="1" hangingPunct="1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・腫瘍細胞</a:t>
            </a:r>
          </a:p>
          <a:p>
            <a:pPr algn="l" eaLnBrk="1" hangingPunct="1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・色素や、壊れた細胞</a:t>
            </a:r>
          </a:p>
          <a:p>
            <a:pPr algn="l" eaLnBrk="1" hangingPunct="1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・1つの細胞に○が2つ付いたもの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1371600"/>
            <a:ext cx="54086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 eaLnBrk="1" hangingPunct="1">
              <a:lnSpc>
                <a:spcPct val="110000"/>
              </a:lnSpc>
              <a:spcAft>
                <a:spcPts val="200"/>
              </a:spcAft>
            </a:pPr>
            <a:r>
              <a:rPr sz="1700" b="1" lang="ja-JP" altLang="en-US">
                <a:solidFill>
                  <a:srgbClr val="FFFFFF"/>
                </a:solidFill>
                <a:latin typeface="Yu Gothic"/>
                <a:ea typeface="Yu Gothic"/>
              </a:rPr>
              <a:t>追加・陽性にするもの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828800"/>
            <a:ext cx="5408676" cy="2468880"/>
          </a:xfrm>
          <a:prstGeom prst="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 eaLnBrk="1" hangingPunct="1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・褐色に染まったリンパ球で、拾われていないもの</a:t>
            </a:r>
          </a:p>
          <a:p>
            <a:pPr algn="l" eaLnBrk="1" hangingPunct="1" marL="274320" indent="-274320">
              <a:lnSpc>
                <a:spcPct val="110000"/>
              </a:lnSpc>
              <a:spcAft>
                <a:spcPts val="6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・密集して1つにまとめられた陽性細胞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1091672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8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・結果をダブルクリックすると、その画像を開き直せる(p43)。クリックで陽性⇔陰性の変更・削除・追加ができる(p18)。連続実行の結果画面でこの修正ができるかは</a:t>
            </a:r>
            <a:r>
              <a:rPr sz="15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8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・迷った細胞が多い視野は、記録表の備考欄にメモする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⑥ 記録と保存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2743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57600"/>
                <a:gridCol w="743407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記録する項目(視野ごと)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説明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自動カウント(陽性数)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修正する前の数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修正後の陽性数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これが最終的な値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修正後の全細胞数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CSVの列の内容は</a:t>
                      </a:r>
                      <a:r>
                        <a:rPr sz="1500" b="1" lang="ja-JP" altLang="en-US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【要確認】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備考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lang="ja-JP" altLang="en-US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迷った点、撮影できなかった理由など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43400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・修正後の画面(確認用画像)を必ず保存する。合議のときに見返すため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・撮影できなかった視野は0ではなく空欄にして、備考に理由を書く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000"/>
              </a:spcAft>
            </a:pPr>
            <a:r>
              <a:rPr sz="16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・CSVと画像の提出先:＿＿＿＿＿＿＿＿＿＿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2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注意点のまとめ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膵癌NACRT研究|Patholoscopeを使ったCD8計測の手順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000" b="0" lang="ja-JP" altLang="en-US">
                <a:solidFill>
                  <a:srgbClr val="7F7F7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10972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 eaLnBrk="1" hangingPunct="1">
              <a:lnSpc>
                <a:spcPct val="115000"/>
              </a:lnSpc>
              <a:spcAft>
                <a:spcPts val="0"/>
              </a:spcAft>
            </a:pPr>
            <a:r>
              <a:rPr sz="1100" b="1" lang="ja-JP" altLang="en-US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・作業は倫理委員会の承認と研究分担者への追加の後に始める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粒子の削除は使わない</a:t>
            </a: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。計測エリアは</a:t>
            </a:r>
            <a:r>
              <a:rPr sz="1700" b="1" lang="ja-JP" altLang="en-US">
                <a:solidFill>
                  <a:srgbClr val="1F3864"/>
                </a:solidFill>
                <a:latin typeface="Yu Gothic"/>
                <a:ea typeface="Yu Gothic"/>
              </a:rPr>
              <a:t>画像全体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・撮影前にホワイトバランスを固定し、全視野を同じ条件で撮る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・レシピは全症例の計測を始めたら変えない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・1人目の値・画像、群の情報は見ない、聞かない。個別の症例の判定は相談しない</a:t>
            </a:r>
          </a:p>
          <a:p>
            <a:pPr algn="l" eaLnBrk="1" hangingPunct="1" marL="274320" indent="-274320">
              <a:lnSpc>
                <a:spcPct val="115000"/>
              </a:lnSpc>
              <a:spcAft>
                <a:spcPts val="1200"/>
              </a:spcAft>
            </a:pPr>
            <a:r>
              <a:rPr sz="17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・修正前と修正後の数、修正後の画像を残す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5120640"/>
            <a:ext cx="11018520" cy="8229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 eaLnBrk="1" hangingPunct="1">
              <a:lnSpc>
                <a:spcPct val="110000"/>
              </a:lnSpc>
              <a:spcAft>
                <a:spcPts val="200"/>
              </a:spcAft>
            </a:pPr>
            <a:r>
              <a:rPr sz="1500" b="0" lang="ja-JP" altLang="en-US">
                <a:solidFill>
                  <a:srgbClr val="262626"/>
                </a:solidFill>
                <a:latin typeface="Yu Gothic"/>
                <a:ea typeface="Yu Gothic"/>
              </a:rPr>
              <a:t>操作の質問は梅宮まで(手順についてのみ)。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