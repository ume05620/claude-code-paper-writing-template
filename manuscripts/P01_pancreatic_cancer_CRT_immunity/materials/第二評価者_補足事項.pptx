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E75B6"/>
                </a:solidFill>
                <a:latin typeface="Yu Gothic"/>
                <a:ea typeface="Yu Gothic"/>
              </a:rPr>
              <a:t>膵癌NACRT研究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F3864"/>
                </a:solidFill>
                <a:latin typeface="Yu Gothic"/>
                <a:ea typeface="Yu Gothic"/>
              </a:rPr>
              <a:t>免疫染色 第二評価 補足事項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2011680" cy="64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Yu Gothic"/>
                <a:ea typeface="Yu Gothic"/>
              </a:rPr>
              <a:t>CD8陽性リンパ球(TIL)・HLA class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梅宮 和真(放射線腫瘍学講座)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7F7F7F"/>
                </a:solidFill>
                <a:latin typeface="Yu Gothic"/>
                <a:ea typeface="Yu Gothic"/>
              </a:rP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おさらい(口頭でお伝えした内容)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1672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① CD8・HLAとも、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論文のMethodsの手順どおり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に評価する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② 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非腫瘍性の部分・組織が壊れている部分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は撮影しない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③ 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1例につき4枚、200倍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で撮影する(CD8・HLAそれぞれ)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④ CD8はPatholoscopeで自動解析し、誤認識は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手で陽性細胞を追加・削除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して直す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4754880"/>
            <a:ext cx="11018520" cy="10058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次のスライドからは、これに加えて守ってほしいことです。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いちばん大事なこと:独立して評価する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1672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・梅宮の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評価結果・撮影画像は見ない、聞かない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・どの症例が術前治療を受けたかは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伏せています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(症例コードで管理)。推測もしない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個別の症例の判定は相談しない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。手順についての質問はOK</a:t>
            </a:r>
          </a:p>
          <a:p>
            <a:pPr algn="l" marL="274320" indent="-274320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・迷った症例は、自分で判断したうえで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記録シートの備考欄にメモ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4754880"/>
            <a:ext cx="11018520" cy="10058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2人が別々に評価するから、結果が一致したときに意味があります。途中で相談すると「独立して評価した」と論文に書けなくなります。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CD8:撮影と補正のポイント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撮影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08676" cy="333756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・腫瘍内と浸潤先進部から、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TILが多く集まる所(ホットスポット)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を選ぶ</a:t>
            </a:r>
          </a:p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・視野は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自分で選ぶ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(梅宮の撮影場所に合わせない)</a:t>
            </a:r>
          </a:p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・4枚が同じ場所に重ならないようにする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Patholoscopeの補正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1828800"/>
            <a:ext cx="5408676" cy="333756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削除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:腫瘍細胞、色素・炭粉、背景の非特異的な染色、壊れた細胞</a:t>
            </a:r>
          </a:p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追加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:茶色に染まったリンパ球で、拾われていないもの</a:t>
            </a:r>
          </a:p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・補正後の画面を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保存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(合議のときに見直すため)</a:t>
            </a:r>
          </a:p>
          <a:p>
            <a:pPr algn="l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・記録するのは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補正後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の陽性細胞数と全細胞数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0680"/>
            <a:ext cx="73152" cy="7315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5440680"/>
            <a:ext cx="11018520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補正の基準は全症例で同じにする。迷う細胞が多い視野は備考欄にメモ。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HLA class I:判定のポイント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・評価するのは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腫瘍細胞だけ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。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細胞膜が茶色に染まっていれば陽性</a:t>
            </a:r>
          </a:p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・リンパ球・間質・血管内皮は数えない(これらが染まっていれば染色は成功している目安)</a:t>
            </a:r>
          </a:p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・各画像で、陽性の腫瘍細胞の割合(%)を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目で見て判定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する(Patholoscopeは使わない)</a:t>
            </a:r>
          </a:p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・視野は腫瘍細胞が十分に含まれる所を、染まり具合で選ばずに選ぶ</a:t>
            </a:r>
            <a:r>
              <a:rPr sz="16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10916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%はこの刻みで記録(単位:%)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6441" y="411480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4243" y="411480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044" y="411480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9846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7647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5449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33250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1052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8853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6655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4456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2258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0059" y="411480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17861" y="411480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15662" y="411480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1109167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オレンジ=端だけ細かく刻む値。0%と1〜9%、90%台の違いがスコアを分けるので、10%刻みだけにしない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境界(1%・10%・50%・80%)の近くは特に慎重に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記録と保存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26517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書き方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症例コード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梅宮が渡すコード表のとおり(患者名・ID・群は書かない)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CD8(4視野)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視野ごとに、補正後の陽性細胞数と全細胞数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HLA(4視野)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視野ごとに、陽性腫瘍細胞の割合(%)。スコアへの変換は梅宮が行う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備考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迷った点・撮影できなかった理由など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51960"/>
            <a:ext cx="11091672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・画像のファイル名: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症例コード_マーカー_視野番号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(例:A01_CD8_1、A01_HLA_3)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・撮影できなかった視野は、0ではなく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空欄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にして備考に理由を書く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・画像と記録シートの保存先:＿＿＿＿＿＿＿＿＿＿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提出とその後の流れ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 補足事項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443734" cy="9601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① 提出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記録シートと画像を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梅宮に提出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6382" y="17693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31286" y="1463040"/>
            <a:ext cx="2443734" cy="9601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② 照合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梅宮が2人の値を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突き合わせる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9028" y="17693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3932" y="1463040"/>
            <a:ext cx="2443734" cy="9601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③ 合議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食い違った症例を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2人で見直す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21674" y="17693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96578" y="1463040"/>
            <a:ext cx="2443734" cy="9601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④ 確定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合議で最終値を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Yu Gothic"/>
                <a:ea typeface="Yu Gothic"/>
              </a:rPr>
              <a:t>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109167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・提出後に</a:t>
            </a: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自分の値を書き換えない</a:t>
            </a: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(一致度は合議前の値で計算するため)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・合議で決まった値は、元の値とは別に記録する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160520"/>
          <a:ext cx="11091672" cy="190195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締切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　　　　月　　　　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提出先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質問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梅宮まで(手順についてのみ)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