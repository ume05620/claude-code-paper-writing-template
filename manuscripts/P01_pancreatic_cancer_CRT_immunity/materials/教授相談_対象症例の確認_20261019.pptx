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011680"/>
            <a:ext cx="10515600" cy="914400"/>
          </a:xfrm>
          <a:prstGeom prst="rect">
            <a:avLst/>
          </a:prstGeom>
          <a:noFill/>
        </p:spPr>
        <p:txBody>
          <a:bodyPr wrap="square" anchor="t" lIns="0" rIns="0">
            <a:spAutoFit/>
          </a:bodyPr>
          <a:lstStyle/>
          <a:p>
            <a:pPr algn="l" eaLnBrk="1" hangingPunct="1">
              <a:lnSpc>
                <a:spcPct val="130000"/>
              </a:lnSpc>
              <a:spcAft>
                <a:spcPts val="1000"/>
              </a:spcAft>
            </a:pPr>
            <a:r>
              <a:rPr sz="3600" b="0" lang="ja-JP" altLang="en-US">
                <a:solidFill>
                  <a:srgbClr val="000000"/>
                </a:solidFill>
                <a:latin typeface="Yu Gothic"/>
                <a:ea typeface="Yu Gothic"/>
              </a:rPr>
              <a:t>対象症例の確認についてのご相談</a:t>
            </a:r>
          </a:p>
        </p:txBody>
      </p:sp>
      <p:sp>
        <p:nvSpPr>
          <p:cNvPr id="3" name="TextBox 2"/>
          <p:cNvSpPr txBox="1"/>
          <p:nvPr/>
        </p:nvSpPr>
        <p:spPr>
          <a:xfrm>
            <a:off x="822960" y="3200400"/>
            <a:ext cx="10515600" cy="1828800"/>
          </a:xfrm>
          <a:prstGeom prst="rect">
            <a:avLst/>
          </a:prstGeom>
          <a:noFill/>
        </p:spPr>
        <p:txBody>
          <a:bodyPr wrap="square" anchor="t" lIns="0" rIns="0">
            <a:spAutoFit/>
          </a:bodyPr>
          <a:lstStyle/>
          <a:p>
            <a:pPr algn="l" eaLnBrk="1" hangingPunct="1">
              <a:lnSpc>
                <a:spcPct val="130000"/>
              </a:lnSpc>
              <a:spcAft>
                <a:spcPts val="1000"/>
              </a:spcAft>
            </a:pPr>
            <a:r>
              <a:rPr sz="2000" b="0" lang="ja-JP" altLang="en-US">
                <a:solidFill>
                  <a:srgbClr val="000000"/>
                </a:solidFill>
                <a:latin typeface="Yu Gothic"/>
                <a:ea typeface="Yu Gothic"/>
              </a:rPr>
              <a:t>術前化学放射線治療が施行された膵癌における放射線誘導抗腫瘍免疫と予後に関する腫瘍病理学的検討（一般2020-085）</a:t>
            </a:r>
          </a:p>
          <a:p>
            <a:pPr algn="l" eaLnBrk="1" hangingPunct="1">
              <a:lnSpc>
                <a:spcPct val="130000"/>
              </a:lnSpc>
              <a:spcAft>
                <a:spcPts val="1000"/>
              </a:spcAft>
            </a:pPr>
            <a:r>
              <a:rPr sz="2000" b="0" lang="ja-JP" altLang="en-US">
                <a:solidFill>
                  <a:srgbClr val="000000"/>
                </a:solidFill>
                <a:latin typeface="Yu Gothic"/>
                <a:ea typeface="Yu Gothic"/>
              </a:rPr>
              <a:t>2026年10月　梅宮 和真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48640"/>
            <a:ext cx="10515600" cy="822960"/>
          </a:xfrm>
          <a:prstGeom prst="rect">
            <a:avLst/>
          </a:prstGeom>
          <a:noFill/>
        </p:spPr>
        <p:txBody>
          <a:bodyPr wrap="square" anchor="b" lIns="0" rIns="0">
            <a:spAutoFit/>
          </a:bodyPr>
          <a:lstStyle/>
          <a:p>
            <a:pPr algn="l" eaLnBrk="1" hangingPunct="1">
              <a:lnSpc>
                <a:spcPct val="130000"/>
              </a:lnSpc>
              <a:spcAft>
                <a:spcPts val="1000"/>
              </a:spcAft>
            </a:pPr>
            <a:r>
              <a:rPr sz="3200" b="0" lang="ja-JP" altLang="en-US">
                <a:solidFill>
                  <a:srgbClr val="000000"/>
                </a:solidFill>
                <a:latin typeface="Yu Gothic"/>
                <a:ea typeface="Yu Gothic"/>
              </a:rPr>
              <a:t>現在の解析対象</a:t>
            </a:r>
          </a:p>
        </p:txBody>
      </p:sp>
      <p:sp>
        <p:nvSpPr>
          <p:cNvPr id="3" name="TextBox 2"/>
          <p:cNvSpPr txBox="1"/>
          <p:nvPr/>
        </p:nvSpPr>
        <p:spPr>
          <a:xfrm>
            <a:off x="822960" y="1737360"/>
            <a:ext cx="10515600" cy="4480560"/>
          </a:xfrm>
          <a:prstGeom prst="rect">
            <a:avLst/>
          </a:prstGeom>
          <a:noFill/>
        </p:spPr>
        <p:txBody>
          <a:bodyPr wrap="square" anchor="t" lIns="0" rIns="0">
            <a:spAutoFit/>
          </a:bodyPr>
          <a:lstStyle/>
          <a:p>
            <a:pPr algn="l" eaLnBrk="1" hangingPunct="1">
              <a:lnSpc>
                <a:spcPct val="130000"/>
              </a:lnSpc>
              <a:spcAft>
                <a:spcPts val="1800"/>
              </a:spcAft>
            </a:pPr>
            <a:r>
              <a:rPr sz="2200" b="0" lang="ja-JP" altLang="en-US">
                <a:solidFill>
                  <a:srgbClr val="000000"/>
                </a:solidFill>
                <a:latin typeface="Yu Gothic"/>
                <a:ea typeface="Yu Gothic"/>
              </a:rPr>
              <a:t>期間中に膵癌で切除術を受けた106例のうち、術前治療の内容が異なる8例、組織切片が入手できなかった8例、浸潤性膵管癌以外の組織型であった4例を除外した。</a:t>
            </a:r>
          </a:p>
          <a:p>
            <a:pPr algn="l" eaLnBrk="1" hangingPunct="1">
              <a:lnSpc>
                <a:spcPct val="130000"/>
              </a:lnSpc>
              <a:spcAft>
                <a:spcPts val="1800"/>
              </a:spcAft>
            </a:pPr>
            <a:r>
              <a:rPr sz="2200" b="0" lang="ja-JP" altLang="en-US">
                <a:solidFill>
                  <a:srgbClr val="000000"/>
                </a:solidFill>
                <a:latin typeface="Yu Gothic"/>
                <a:ea typeface="Yu Gothic"/>
              </a:rPr>
              <a:t>解析対象は86例（NACRT群24例、手術単独群62例）である。SF055はカルテでNACRT施行を確認し、NACRT群に含めた。</a:t>
            </a:r>
          </a:p>
        </p:txBody>
      </p:sp>
      <p:sp>
        <p:nvSpPr>
          <p:cNvPr id="4" name="TextBox 3"/>
          <p:cNvSpPr txBox="1"/>
          <p:nvPr/>
        </p:nvSpPr>
        <p:spPr>
          <a:xfrm>
            <a:off x="10881360" y="6263640"/>
            <a:ext cx="457200" cy="365760"/>
          </a:xfrm>
          <a:prstGeom prst="rect">
            <a:avLst/>
          </a:prstGeom>
          <a:noFill/>
        </p:spPr>
        <p:txBody>
          <a:bodyPr wrap="square" anchor="t" lIns="0" rIns="0">
            <a:spAutoFit/>
          </a:bodyPr>
          <a:lstStyle/>
          <a:p>
            <a:pPr algn="r" eaLnBrk="1" hangingPunct="1">
              <a:lnSpc>
                <a:spcPct val="130000"/>
              </a:lnSpc>
              <a:spcAft>
                <a:spcPts val="1000"/>
              </a:spcAft>
            </a:pPr>
            <a:r>
              <a:rPr sz="1200" b="0" lang="ja-JP" altLang="en-US">
                <a:solidFill>
                  <a:srgbClr val="000000"/>
                </a:solidFill>
                <a:latin typeface="Yu Gothic"/>
                <a:ea typeface="Yu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48640"/>
            <a:ext cx="10515600" cy="822960"/>
          </a:xfrm>
          <a:prstGeom prst="rect">
            <a:avLst/>
          </a:prstGeom>
          <a:noFill/>
        </p:spPr>
        <p:txBody>
          <a:bodyPr wrap="square" anchor="b" lIns="0" rIns="0">
            <a:spAutoFit/>
          </a:bodyPr>
          <a:lstStyle/>
          <a:p>
            <a:pPr algn="l" eaLnBrk="1" hangingPunct="1">
              <a:lnSpc>
                <a:spcPct val="130000"/>
              </a:lnSpc>
              <a:spcAft>
                <a:spcPts val="1000"/>
              </a:spcAft>
            </a:pPr>
            <a:r>
              <a:rPr sz="3200" b="0" lang="ja-JP" altLang="en-US">
                <a:solidFill>
                  <a:srgbClr val="000000"/>
                </a:solidFill>
                <a:latin typeface="Yu Gothic"/>
                <a:ea typeface="Yu Gothic"/>
              </a:rPr>
              <a:t>研究計画書の適格基準との照合</a:t>
            </a:r>
          </a:p>
        </p:txBody>
      </p:sp>
      <p:sp>
        <p:nvSpPr>
          <p:cNvPr id="3" name="TextBox 2"/>
          <p:cNvSpPr txBox="1"/>
          <p:nvPr/>
        </p:nvSpPr>
        <p:spPr>
          <a:xfrm>
            <a:off x="822960" y="1737360"/>
            <a:ext cx="10515600" cy="4480560"/>
          </a:xfrm>
          <a:prstGeom prst="rect">
            <a:avLst/>
          </a:prstGeom>
          <a:noFill/>
        </p:spPr>
        <p:txBody>
          <a:bodyPr wrap="square" anchor="t" lIns="0" rIns="0">
            <a:spAutoFit/>
          </a:bodyPr>
          <a:lstStyle/>
          <a:p>
            <a:pPr algn="l" eaLnBrk="1" hangingPunct="1">
              <a:lnSpc>
                <a:spcPct val="130000"/>
              </a:lnSpc>
              <a:spcAft>
                <a:spcPts val="1800"/>
              </a:spcAft>
            </a:pPr>
            <a:r>
              <a:rPr sz="2200" b="0" lang="ja-JP" altLang="en-US">
                <a:solidFill>
                  <a:srgbClr val="000000"/>
                </a:solidFill>
                <a:latin typeface="Yu Gothic"/>
                <a:ea typeface="Yu Gothic"/>
              </a:rPr>
              <a:t>研究計画書（第2版・第3版）は、初診時年齢20歳以上80歳未満、2010年6月1日から2022年5月31日の手術例を対象としている。</a:t>
            </a:r>
          </a:p>
          <a:p>
            <a:pPr algn="l" eaLnBrk="1" hangingPunct="1">
              <a:lnSpc>
                <a:spcPct val="130000"/>
              </a:lnSpc>
              <a:spcAft>
                <a:spcPts val="1800"/>
              </a:spcAft>
            </a:pPr>
            <a:r>
              <a:rPr sz="2200" b="0" lang="ja-JP" altLang="en-US">
                <a:solidFill>
                  <a:srgbClr val="000000"/>
                </a:solidFill>
                <a:latin typeface="Yu Gothic"/>
                <a:ea typeface="Yu Gothic"/>
              </a:rPr>
              <a:t>手術単独群62例のうち、初診時80～84歳の12例と、2010年5月に手術を受けた2例が基準に該当しなかった。年齢と手術日はカルテで確認した。</a:t>
            </a:r>
          </a:p>
        </p:txBody>
      </p:sp>
      <p:sp>
        <p:nvSpPr>
          <p:cNvPr id="4" name="TextBox 3"/>
          <p:cNvSpPr txBox="1"/>
          <p:nvPr/>
        </p:nvSpPr>
        <p:spPr>
          <a:xfrm>
            <a:off x="10881360" y="6263640"/>
            <a:ext cx="457200" cy="365760"/>
          </a:xfrm>
          <a:prstGeom prst="rect">
            <a:avLst/>
          </a:prstGeom>
          <a:noFill/>
        </p:spPr>
        <p:txBody>
          <a:bodyPr wrap="square" anchor="t" lIns="0" rIns="0">
            <a:spAutoFit/>
          </a:bodyPr>
          <a:lstStyle/>
          <a:p>
            <a:pPr algn="r" eaLnBrk="1" hangingPunct="1">
              <a:lnSpc>
                <a:spcPct val="130000"/>
              </a:lnSpc>
              <a:spcAft>
                <a:spcPts val="1000"/>
              </a:spcAft>
            </a:pPr>
            <a:r>
              <a:rPr sz="1200" b="0" lang="ja-JP" altLang="en-US">
                <a:solidFill>
                  <a:srgbClr val="000000"/>
                </a:solidFill>
                <a:latin typeface="Yu Gothic"/>
                <a:ea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48640"/>
            <a:ext cx="10515600" cy="822960"/>
          </a:xfrm>
          <a:prstGeom prst="rect">
            <a:avLst/>
          </a:prstGeom>
          <a:noFill/>
        </p:spPr>
        <p:txBody>
          <a:bodyPr wrap="square" anchor="b" lIns="0" rIns="0">
            <a:spAutoFit/>
          </a:bodyPr>
          <a:lstStyle/>
          <a:p>
            <a:pPr algn="l" eaLnBrk="1" hangingPunct="1">
              <a:lnSpc>
                <a:spcPct val="130000"/>
              </a:lnSpc>
              <a:spcAft>
                <a:spcPts val="1000"/>
              </a:spcAft>
            </a:pPr>
            <a:r>
              <a:rPr sz="3200" b="0" lang="ja-JP" altLang="en-US">
                <a:solidFill>
                  <a:srgbClr val="000000"/>
                </a:solidFill>
                <a:latin typeface="Yu Gothic"/>
                <a:ea typeface="Yu Gothic"/>
              </a:rPr>
              <a:t>経緯</a:t>
            </a:r>
          </a:p>
        </p:txBody>
      </p:sp>
      <p:sp>
        <p:nvSpPr>
          <p:cNvPr id="3" name="TextBox 2"/>
          <p:cNvSpPr txBox="1"/>
          <p:nvPr/>
        </p:nvSpPr>
        <p:spPr>
          <a:xfrm>
            <a:off x="822960" y="1737360"/>
            <a:ext cx="10515600" cy="4480560"/>
          </a:xfrm>
          <a:prstGeom prst="rect">
            <a:avLst/>
          </a:prstGeom>
          <a:noFill/>
        </p:spPr>
        <p:txBody>
          <a:bodyPr wrap="square" anchor="t" lIns="0" rIns="0">
            <a:spAutoFit/>
          </a:bodyPr>
          <a:lstStyle/>
          <a:p>
            <a:pPr algn="l" eaLnBrk="1" hangingPunct="1">
              <a:lnSpc>
                <a:spcPct val="130000"/>
              </a:lnSpc>
              <a:spcAft>
                <a:spcPts val="1800"/>
              </a:spcAft>
            </a:pPr>
            <a:r>
              <a:rPr sz="2200" b="0" lang="ja-JP" altLang="en-US">
                <a:solidFill>
                  <a:srgbClr val="000000"/>
                </a:solidFill>
                <a:latin typeface="Yu Gothic"/>
                <a:ea typeface="Yu Gothic"/>
              </a:rPr>
              <a:t>対象症例の一覧は前任者が作成した。作成時に年齢と手術期間の基準は適用されていなかったと考えられる。</a:t>
            </a:r>
          </a:p>
          <a:p>
            <a:pPr algn="l" eaLnBrk="1" hangingPunct="1">
              <a:lnSpc>
                <a:spcPct val="130000"/>
              </a:lnSpc>
              <a:spcAft>
                <a:spcPts val="1800"/>
              </a:spcAft>
            </a:pPr>
            <a:r>
              <a:rPr sz="2200" b="0" lang="ja-JP" altLang="en-US">
                <a:solidFill>
                  <a:srgbClr val="000000"/>
                </a:solidFill>
                <a:latin typeface="Yu Gothic"/>
                <a:ea typeface="Yu Gothic"/>
              </a:rPr>
              <a:t>研究実施状況報告書では87例を登録し、計画書からの逸脱は無と報告している。</a:t>
            </a:r>
          </a:p>
          <a:p>
            <a:pPr algn="l" eaLnBrk="1" hangingPunct="1">
              <a:lnSpc>
                <a:spcPct val="130000"/>
              </a:lnSpc>
              <a:spcAft>
                <a:spcPts val="1800"/>
              </a:spcAft>
            </a:pPr>
            <a:r>
              <a:rPr sz="2200" b="0" lang="ja-JP" altLang="en-US">
                <a:solidFill>
                  <a:srgbClr val="000000"/>
                </a:solidFill>
                <a:latin typeface="Yu Gothic"/>
                <a:ea typeface="Yu Gothic"/>
              </a:rPr>
              <a:t>第1版（2020年の承認時）の研究計画書は手元になく、基準の内容は確認できていない。</a:t>
            </a:r>
          </a:p>
        </p:txBody>
      </p:sp>
      <p:sp>
        <p:nvSpPr>
          <p:cNvPr id="4" name="TextBox 3"/>
          <p:cNvSpPr txBox="1"/>
          <p:nvPr/>
        </p:nvSpPr>
        <p:spPr>
          <a:xfrm>
            <a:off x="10881360" y="6263640"/>
            <a:ext cx="457200" cy="365760"/>
          </a:xfrm>
          <a:prstGeom prst="rect">
            <a:avLst/>
          </a:prstGeom>
          <a:noFill/>
        </p:spPr>
        <p:txBody>
          <a:bodyPr wrap="square" anchor="t" lIns="0" rIns="0">
            <a:spAutoFit/>
          </a:bodyPr>
          <a:lstStyle/>
          <a:p>
            <a:pPr algn="r" eaLnBrk="1" hangingPunct="1">
              <a:lnSpc>
                <a:spcPct val="130000"/>
              </a:lnSpc>
              <a:spcAft>
                <a:spcPts val="1000"/>
              </a:spcAft>
            </a:pPr>
            <a:r>
              <a:rPr sz="1200" b="0" lang="ja-JP" altLang="en-US">
                <a:solidFill>
                  <a:srgbClr val="000000"/>
                </a:solidFill>
                <a:latin typeface="Yu Gothic"/>
                <a:ea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48640"/>
            <a:ext cx="10515600" cy="822960"/>
          </a:xfrm>
          <a:prstGeom prst="rect">
            <a:avLst/>
          </a:prstGeom>
          <a:noFill/>
        </p:spPr>
        <p:txBody>
          <a:bodyPr wrap="square" anchor="b" lIns="0" rIns="0">
            <a:spAutoFit/>
          </a:bodyPr>
          <a:lstStyle/>
          <a:p>
            <a:pPr algn="l" eaLnBrk="1" hangingPunct="1">
              <a:lnSpc>
                <a:spcPct val="130000"/>
              </a:lnSpc>
              <a:spcAft>
                <a:spcPts val="1000"/>
              </a:spcAft>
            </a:pPr>
            <a:r>
              <a:rPr sz="3200" b="0" lang="ja-JP" altLang="en-US">
                <a:solidFill>
                  <a:srgbClr val="000000"/>
                </a:solidFill>
                <a:latin typeface="Yu Gothic"/>
                <a:ea typeface="Yu Gothic"/>
              </a:rPr>
              <a:t>対応の選択肢</a:t>
            </a:r>
          </a:p>
        </p:txBody>
      </p:sp>
      <p:sp>
        <p:nvSpPr>
          <p:cNvPr id="3" name="TextBox 2"/>
          <p:cNvSpPr txBox="1"/>
          <p:nvPr/>
        </p:nvSpPr>
        <p:spPr>
          <a:xfrm>
            <a:off x="822960" y="1737360"/>
            <a:ext cx="10515600" cy="4480560"/>
          </a:xfrm>
          <a:prstGeom prst="rect">
            <a:avLst/>
          </a:prstGeom>
          <a:noFill/>
        </p:spPr>
        <p:txBody>
          <a:bodyPr wrap="square" anchor="t" lIns="0" rIns="0">
            <a:spAutoFit/>
          </a:bodyPr>
          <a:lstStyle/>
          <a:p>
            <a:pPr algn="l" eaLnBrk="1" hangingPunct="1">
              <a:lnSpc>
                <a:spcPct val="130000"/>
              </a:lnSpc>
              <a:spcAft>
                <a:spcPts val="1800"/>
              </a:spcAft>
            </a:pPr>
            <a:r>
              <a:rPr sz="2200" b="0" lang="ja-JP" altLang="en-US">
                <a:solidFill>
                  <a:srgbClr val="000000"/>
                </a:solidFill>
                <a:latin typeface="Yu Gothic"/>
                <a:ea typeface="Yu Gothic"/>
              </a:rPr>
              <a:t>A：基準外の14例を除外し、72例（NACRT群24例、手術単独群48例）で再解析する。計画書どおりだが、手術単独群が減り、患者背景と統計の再計算が必要となる。</a:t>
            </a:r>
          </a:p>
          <a:p>
            <a:pPr algn="l" eaLnBrk="1" hangingPunct="1">
              <a:lnSpc>
                <a:spcPct val="130000"/>
              </a:lnSpc>
              <a:spcAft>
                <a:spcPts val="1800"/>
              </a:spcAft>
            </a:pPr>
            <a:r>
              <a:rPr sz="2200" b="0" lang="ja-JP" altLang="en-US">
                <a:solidFill>
                  <a:srgbClr val="000000"/>
                </a:solidFill>
                <a:latin typeface="Yu Gothic"/>
                <a:ea typeface="Yu Gothic"/>
              </a:rPr>
              <a:t>B：倫理委員会に変更を申請し、86例のまま解析する。症例数は保てるが、申請と審査に時間を要する。</a:t>
            </a:r>
          </a:p>
        </p:txBody>
      </p:sp>
      <p:sp>
        <p:nvSpPr>
          <p:cNvPr id="4" name="TextBox 3"/>
          <p:cNvSpPr txBox="1"/>
          <p:nvPr/>
        </p:nvSpPr>
        <p:spPr>
          <a:xfrm>
            <a:off x="10881360" y="6263640"/>
            <a:ext cx="457200" cy="365760"/>
          </a:xfrm>
          <a:prstGeom prst="rect">
            <a:avLst/>
          </a:prstGeom>
          <a:noFill/>
        </p:spPr>
        <p:txBody>
          <a:bodyPr wrap="square" anchor="t" lIns="0" rIns="0">
            <a:spAutoFit/>
          </a:bodyPr>
          <a:lstStyle/>
          <a:p>
            <a:pPr algn="r" eaLnBrk="1" hangingPunct="1">
              <a:lnSpc>
                <a:spcPct val="130000"/>
              </a:lnSpc>
              <a:spcAft>
                <a:spcPts val="1000"/>
              </a:spcAft>
            </a:pPr>
            <a:r>
              <a:rPr sz="1200" b="0" lang="ja-JP" altLang="en-US">
                <a:solidFill>
                  <a:srgbClr val="000000"/>
                </a:solidFill>
                <a:latin typeface="Yu Gothic"/>
                <a:ea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48640"/>
            <a:ext cx="10515600" cy="822960"/>
          </a:xfrm>
          <a:prstGeom prst="rect">
            <a:avLst/>
          </a:prstGeom>
          <a:noFill/>
        </p:spPr>
        <p:txBody>
          <a:bodyPr wrap="square" anchor="b" lIns="0" rIns="0">
            <a:spAutoFit/>
          </a:bodyPr>
          <a:lstStyle/>
          <a:p>
            <a:pPr algn="l" eaLnBrk="1" hangingPunct="1">
              <a:lnSpc>
                <a:spcPct val="130000"/>
              </a:lnSpc>
              <a:spcAft>
                <a:spcPts val="1000"/>
              </a:spcAft>
            </a:pPr>
            <a:r>
              <a:rPr sz="3200" b="0" lang="ja-JP" altLang="en-US">
                <a:solidFill>
                  <a:srgbClr val="000000"/>
                </a:solidFill>
                <a:latin typeface="Yu Gothic"/>
                <a:ea typeface="Yu Gothic"/>
              </a:rPr>
              <a:t>ご相談したいこと</a:t>
            </a:r>
          </a:p>
        </p:txBody>
      </p:sp>
      <p:sp>
        <p:nvSpPr>
          <p:cNvPr id="3" name="TextBox 2"/>
          <p:cNvSpPr txBox="1"/>
          <p:nvPr/>
        </p:nvSpPr>
        <p:spPr>
          <a:xfrm>
            <a:off x="822960" y="1737360"/>
            <a:ext cx="10515600" cy="4480560"/>
          </a:xfrm>
          <a:prstGeom prst="rect">
            <a:avLst/>
          </a:prstGeom>
          <a:noFill/>
        </p:spPr>
        <p:txBody>
          <a:bodyPr wrap="square" anchor="t" lIns="0" rIns="0">
            <a:spAutoFit/>
          </a:bodyPr>
          <a:lstStyle/>
          <a:p>
            <a:pPr algn="l" eaLnBrk="1" hangingPunct="1">
              <a:lnSpc>
                <a:spcPct val="130000"/>
              </a:lnSpc>
              <a:spcAft>
                <a:spcPts val="1800"/>
              </a:spcAft>
            </a:pPr>
            <a:r>
              <a:rPr sz="2200" b="0" lang="ja-JP" altLang="en-US">
                <a:solidFill>
                  <a:srgbClr val="000000"/>
                </a:solidFill>
                <a:latin typeface="Yu Gothic"/>
                <a:ea typeface="Yu Gothic"/>
              </a:rPr>
              <a:t>1．第1版の研究計画書の年齢基準と手術期間は、現行版と同じか。</a:t>
            </a:r>
          </a:p>
          <a:p>
            <a:pPr algn="l" eaLnBrk="1" hangingPunct="1">
              <a:lnSpc>
                <a:spcPct val="130000"/>
              </a:lnSpc>
              <a:spcAft>
                <a:spcPts val="1800"/>
              </a:spcAft>
            </a:pPr>
            <a:r>
              <a:rPr sz="2200" b="0" lang="ja-JP" altLang="en-US">
                <a:solidFill>
                  <a:srgbClr val="000000"/>
                </a:solidFill>
                <a:latin typeface="Yu Gothic"/>
                <a:ea typeface="Yu Gothic"/>
              </a:rPr>
              <a:t>2．同じであれば、AとBのいずれで進めるか。</a:t>
            </a:r>
          </a:p>
          <a:p>
            <a:pPr algn="l" eaLnBrk="1" hangingPunct="1">
              <a:lnSpc>
                <a:spcPct val="130000"/>
              </a:lnSpc>
              <a:spcAft>
                <a:spcPts val="1800"/>
              </a:spcAft>
            </a:pPr>
            <a:r>
              <a:rPr sz="2200" b="0" lang="ja-JP" altLang="en-US">
                <a:solidFill>
                  <a:srgbClr val="000000"/>
                </a:solidFill>
                <a:latin typeface="Yu Gothic"/>
                <a:ea typeface="Yu Gothic"/>
              </a:rPr>
              <a:t>3．再計算は、第二評価者との合議で最終値が確定した後に、まとめて行う予定でよいか。</a:t>
            </a:r>
          </a:p>
        </p:txBody>
      </p:sp>
      <p:sp>
        <p:nvSpPr>
          <p:cNvPr id="4" name="TextBox 3"/>
          <p:cNvSpPr txBox="1"/>
          <p:nvPr/>
        </p:nvSpPr>
        <p:spPr>
          <a:xfrm>
            <a:off x="10881360" y="6263640"/>
            <a:ext cx="457200" cy="365760"/>
          </a:xfrm>
          <a:prstGeom prst="rect">
            <a:avLst/>
          </a:prstGeom>
          <a:noFill/>
        </p:spPr>
        <p:txBody>
          <a:bodyPr wrap="square" anchor="t" lIns="0" rIns="0">
            <a:spAutoFit/>
          </a:bodyPr>
          <a:lstStyle/>
          <a:p>
            <a:pPr algn="r" eaLnBrk="1" hangingPunct="1">
              <a:lnSpc>
                <a:spcPct val="130000"/>
              </a:lnSpc>
              <a:spcAft>
                <a:spcPts val="1000"/>
              </a:spcAft>
            </a:pPr>
            <a:r>
              <a:rPr sz="1200" b="0" lang="ja-JP" altLang="en-US">
                <a:solidFill>
                  <a:srgbClr val="000000"/>
                </a:solidFill>
                <a:latin typeface="Yu Gothic"/>
                <a:ea typeface="Yu Gothic"/>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