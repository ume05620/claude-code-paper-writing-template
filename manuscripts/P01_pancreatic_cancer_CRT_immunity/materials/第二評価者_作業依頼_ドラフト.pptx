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12680" y="32004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60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>
                <a:solidFill>
                  <a:srgbClr val="2E75B6"/>
                </a:solidFill>
                <a:latin typeface="Yu Gothic"/>
                <a:ea typeface="Yu Gothic"/>
              </a:rPr>
              <a:t>膵癌NACRT研究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>
                <a:solidFill>
                  <a:srgbClr val="1F3864"/>
                </a:solidFill>
                <a:latin typeface="Yu Gothic"/>
                <a:ea typeface="Yu Gothic"/>
              </a:rPr>
              <a:t>免疫染色 第二評価者 作業のお願い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566160"/>
            <a:ext cx="2011680" cy="6400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>
                <a:solidFill>
                  <a:srgbClr val="262626"/>
                </a:solidFill>
                <a:latin typeface="Yu Gothic"/>
                <a:ea typeface="Yu Gothic"/>
              </a:rPr>
              <a:t>CD8陽性リンパ球(TIL)・HLA class I の独立評価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依頼者:梅宮 和真(放射線腫瘍学講座)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>
                <a:solidFill>
                  <a:srgbClr val="7F7F7F"/>
                </a:solidFill>
                <a:latin typeface="Yu Gothic"/>
                <a:ea typeface="Yu Gothic"/>
              </a:rPr>
              <a:t>2026年9月12日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この作業の目的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3291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・論文では「CD8とHLA class Iを、</a:t>
            </a: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2名の評価者がそれぞれ独立に評価した</a:t>
            </a: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」と記載します。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・教授の方針により、梅宮の評価を“確認・検証”するのではなく、</a:t>
            </a: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同じ手順を最初から独立に</a:t>
            </a: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行ってもらいます。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・2人の結果を照合し、食い違った症例は2人で標本を見直して、合議で最終値を決めます。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・2人の一致度(再現性)を論文に数値で示す可能性があります。だからこそ</a:t>
            </a: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独立性がとても大切</a:t>
            </a: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92040"/>
            <a:ext cx="73152" cy="9601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4892040"/>
            <a:ext cx="11018520" cy="96012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「確認作業」ではなく、「</a:t>
            </a:r>
            <a:r>
              <a:rPr sz="1900" b="1">
                <a:solidFill>
                  <a:srgbClr val="1F3864"/>
                </a:solidFill>
                <a:latin typeface="Yu Gothic"/>
                <a:ea typeface="Yu Gothic"/>
              </a:rPr>
              <a:t>もう一人の評価者として、ゼロから評価する</a:t>
            </a:r>
            <a:r>
              <a:rPr sz="1900" b="0">
                <a:solidFill>
                  <a:srgbClr val="262626"/>
                </a:solidFill>
                <a:latin typeface="Yu Gothic"/>
                <a:ea typeface="Yu Gothic"/>
              </a:rPr>
              <a:t>」作業です。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作業の全体像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091672" cy="22860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011680"/>
                <a:gridCol w="9079992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対象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86症例(症例コードで管理します)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評価項目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CD8陽性リンパ球(TIL)、HLA class I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染色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すでに完了しています。新たな染色は不要で、評価のみです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使うもの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顕微鏡、Patholoscope ver 1.8.0、Excelの記録シート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31920"/>
            <a:ext cx="110916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作業の流れ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434840"/>
            <a:ext cx="1867204" cy="14173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① 受け取る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症例コード表と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記録シート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79852" y="49697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54756" y="4434840"/>
            <a:ext cx="1867204" cy="14173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② CD8を評価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4視野を選んで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カウント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85969" y="49697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0873" y="4434840"/>
            <a:ext cx="1867204" cy="14173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③ HLA class I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を評価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陽性率(%)を判定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92086" y="49697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466990" y="4434840"/>
            <a:ext cx="1867204" cy="14173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④ 提出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記録シートを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梅宮に提出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98203" y="496976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773107" y="4434840"/>
            <a:ext cx="1867204" cy="141732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⑤ 照合・合議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食い違った症例を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2人で見直す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CD8陽性リンパ球の評価手順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1672" cy="374903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① 低倍率で標本全体を観察し、CD8陽性リンパ球が最も密に集まる領域(ホットスポット)を探す</a:t>
            </a:r>
            <a:r>
              <a:rPr sz="1700" b="1">
                <a:solidFill>
                  <a:srgbClr val="C00000"/>
                </a:solidFill>
                <a:latin typeface="Yu Gothic"/>
                <a:ea typeface="Yu Gothic"/>
              </a:rPr>
              <a:t>【要確認:浸潤先進部のみか、腫瘍内も含むか】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② ×200倍で、互いに重ならない4視野を選ぶ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③ 各視野を撮影し、Patholoscope ver 1.8.0 で「全細胞数」と「陽性細胞数」をカウントする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④ 自動カウントの明らかな誤り(背景の非特異染色・腫瘍細胞の誤検出など)は目視で修正する</a:t>
            </a:r>
            <a:r>
              <a:rPr sz="17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⑤ 4視野それぞれの値を記録シートに入力する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74920"/>
            <a:ext cx="73152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5074920"/>
            <a:ext cx="11018520" cy="11430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視野は自分で選んでください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。梅宮が撮影した画像は使いません。</a:t>
            </a:r>
            <a:r>
              <a:rPr sz="15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・解析では4視野の陽性細胞数の平均を使います(平均の計算は梅宮側で行います)。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HLA class Iの評価手順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1672" cy="3017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① 評価するのは</a:t>
            </a: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腫瘍細胞だけ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② 各視野で、陽性に染まった腫瘍細胞の割合(%)を目測で判定する</a:t>
            </a:r>
            <a:r>
              <a:rPr sz="1700" b="1">
                <a:solidFill>
                  <a:srgbClr val="C00000"/>
                </a:solidFill>
                <a:latin typeface="Yu Gothic"/>
                <a:ea typeface="Yu Gothic"/>
              </a:rPr>
              <a:t>【要確認:陽性=膜の染色のみか】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③ 視野の数・選び方・倍率は、指定のルールに従う</a:t>
            </a:r>
            <a:r>
              <a:rPr sz="17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④ %は決められた刻みで記録する(「注意点②」のスライド参照)</a:t>
            </a:r>
          </a:p>
          <a:p>
            <a:pPr algn="l" marL="365760" indent="-36576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⑤ スコア(0〜4)への変換は梅宮側で行うので、評価者は</a:t>
            </a: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%だけを記録</a:t>
            </a: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110916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参考:解析時のスコア変換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4937760"/>
          <a:ext cx="11091672" cy="10058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862072"/>
                <a:gridCol w="1645920"/>
                <a:gridCol w="1645920"/>
                <a:gridCol w="1645920"/>
                <a:gridCol w="1645920"/>
                <a:gridCol w="1645920"/>
              </a:tblGrid>
              <a:tr h="50292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スコア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0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陽性腫瘍細胞の割合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1%未満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1〜9%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10〜49%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50〜79%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80%以上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記録シートの形式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1672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1人目のデータと同じ列の並びにします(そのまま照合できるようにするため)。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72" cy="131673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960120"/>
                <a:gridCol w="1051560"/>
                <a:gridCol w="1051560"/>
                <a:gridCol w="502920"/>
                <a:gridCol w="1051560"/>
                <a:gridCol w="1051560"/>
                <a:gridCol w="1234440"/>
                <a:gridCol w="502920"/>
                <a:gridCol w="1234440"/>
                <a:gridCol w="2450592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症例
コード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CD8 ①
全細胞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CD8 ①
陽性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…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CD8 ④
全細胞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CD8 ④
陽性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HLA
視野1(%)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…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HLA
視野9(%)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備考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C-001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入力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入力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入力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入力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入力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(空欄可)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迷った点など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3520440"/>
            <a:ext cx="11091672" cy="2651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・使わなかった視野の欄は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空欄のまま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にする(「0」と入力しない)。HLAの0%は「陽性細胞なし」という正式な値になってしまうため</a:t>
            </a:r>
          </a:p>
          <a:p>
            <a:pPr algn="l" marL="274320" indent="-274320">
              <a:lnSpc>
                <a:spcPct val="115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・判定に迷った症例、標本の不良(剥がれ・染色ムラなど)は備考欄に書く</a:t>
            </a:r>
          </a:p>
          <a:p>
            <a:pPr algn="l" marL="274320" indent="-274320">
              <a:lnSpc>
                <a:spcPct val="115000"/>
              </a:lnSpc>
              <a:spcAft>
                <a:spcPts val="1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・ファイル名・保存先</a:t>
            </a:r>
            <a:r>
              <a:rPr sz="16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注意点① 独立性と盲検化(最重要)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91672" cy="4846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</a:t>
            </a: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梅宮の評価値は見ない・聞かない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・どの症例が術前治療を受けたかは伝えません(症例コードで管理します)。臨床情報や予後も見ない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・評価中は、</a:t>
            </a: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個別の症例について梅宮と相談しない</a:t>
            </a: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(相談すると「独立に評価した」と書けなくなります)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・術前治療後の標本は、線維化などで治療の有無が推測できてしまうことがあります。</a:t>
            </a: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推測で判定を変えない</a:t>
            </a: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でください</a:t>
            </a:r>
          </a:p>
          <a:p>
            <a:pPr algn="l" marL="274320" indent="-274320">
              <a:lnSpc>
                <a:spcPct val="115000"/>
              </a:lnSpc>
              <a:spcAft>
                <a:spcPts val="1400"/>
              </a:spcAft>
            </a:pPr>
            <a:r>
              <a:rPr sz="1800" b="0">
                <a:solidFill>
                  <a:srgbClr val="262626"/>
                </a:solidFill>
                <a:latin typeface="Yu Gothic"/>
                <a:ea typeface="Yu Gothic"/>
              </a:rPr>
              <a:t>・迷った症例は自分の判断で値を入れ、理由を備考欄に書く(照合のときに一緒に扱います)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注意点② HLAの%の刻み方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916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使う刻み(単位:%)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0</a:t>
            </a:r>
          </a:p>
        </p:txBody>
      </p:sp>
      <p:sp>
        <p:nvSpPr>
          <p:cNvPr id="9" name="Rectangle 8"/>
          <p:cNvSpPr/>
          <p:nvPr/>
        </p:nvSpPr>
        <p:spPr>
          <a:xfrm>
            <a:off x="1246441" y="178308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4243" y="178308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42044" y="178308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9846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37647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35449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30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33250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1052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28853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26655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70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4456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22258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90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20059" y="178308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95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17861" y="1783080"/>
            <a:ext cx="624649" cy="658368"/>
          </a:xfrm>
          <a:prstGeom prst="rect">
            <a:avLst/>
          </a:prstGeom>
          <a:solidFill>
            <a:srgbClr val="FCE4CC"/>
          </a:solidFill>
          <a:ln w="127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C55A11"/>
                </a:solidFill>
                <a:latin typeface="Yu Gothic"/>
                <a:ea typeface="Yu Gothic"/>
              </a:rPr>
              <a:t>99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015662" y="1783080"/>
            <a:ext cx="624649" cy="658368"/>
          </a:xfrm>
          <a:prstGeom prst="rect">
            <a:avLst/>
          </a:prstGeom>
          <a:solidFill>
            <a:srgbClr val="EAF1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" rIns="18288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800" b="1">
                <a:solidFill>
                  <a:srgbClr val="1F3864"/>
                </a:solidFill>
                <a:latin typeface="Yu Gothic"/>
                <a:ea typeface="Yu Gothic"/>
              </a:rPr>
              <a:t>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514600"/>
            <a:ext cx="11091672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Yu Gothic"/>
                <a:ea typeface="Yu Gothic"/>
              </a:rPr>
              <a:t>オレンジ = 端だけ細かく刻む値(0〜10%と90〜100%)。それ以外は10%刻み。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063240"/>
            <a:ext cx="110916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なぜ「10%刻み」だけではだめなのか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20440"/>
            <a:ext cx="11091672" cy="2743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・スコアの境界は </a:t>
            </a: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1%・10%・50%・80%</a:t>
            </a: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 にあります</a:t>
            </a:r>
          </a:p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・特に「0%(スコア0)」と「1〜9%(スコア1)」は、10%刻みでは区別できません</a:t>
            </a:r>
          </a:p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・刻みが1人目とずれると、評価者の判断の違いではなく“刻みの違い”でスコアがずれてしまいます</a:t>
            </a:r>
          </a:p>
          <a:p>
            <a:pPr algn="l" marL="274320" indent="-274320">
              <a:lnSpc>
                <a:spcPct val="115000"/>
              </a:lnSpc>
              <a:spcAft>
                <a:spcPts val="10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・境界(10%・50%・80%)の近くの症例は、特に慎重に判定してください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注意点③ 陽性の判定基準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086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HLA class I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08676" cy="2926080"/>
          </a:xfrm>
          <a:prstGeom prst="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・数えるのは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腫瘍細胞だけ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・リンパ球・間質の細胞・血管内皮は、HLA class Iが陽性でも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数えない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・これらの細胞が染まっていれば、その標本の染色はうまくいっている(内部陽性対照)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・陽性の定義(膜のみか/細胞質も含むか/どの濃さから陽性か)は指定の基準に合わせる</a:t>
            </a:r>
            <a:r>
              <a:rPr sz="15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</p:txBody>
      </p:sp>
      <p:sp>
        <p:nvSpPr>
          <p:cNvPr id="9" name="Rectangle 8"/>
          <p:cNvSpPr/>
          <p:nvPr/>
        </p:nvSpPr>
        <p:spPr>
          <a:xfrm>
            <a:off x="6231636" y="1371600"/>
            <a:ext cx="5408676" cy="4572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Yu Gothic"/>
                <a:ea typeface="Yu Gothic"/>
              </a:rPr>
              <a:t>CD8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1636" y="1828800"/>
            <a:ext cx="5408676" cy="2926080"/>
          </a:xfrm>
          <a:prstGeom prst="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・数えるのは、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染色されたリンパ球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・腫瘍細胞や、背景の非特異的な染色は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数えない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・Patholoscopeが誤って拾った・拾い漏らした細胞の扱いは指定の手順に合わせる</a:t>
            </a:r>
            <a:r>
              <a:rPr sz="15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・迷った視野は備考欄にメモ(HLAも同じ)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029200"/>
            <a:ext cx="73152" cy="9144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" y="5029200"/>
            <a:ext cx="11018520" cy="91440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評価を始める前に、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見本画像を使って判定の目線をすり合わせ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ます(評価対象症例の値は伝えません)。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評価が終わったあとの流れ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443734" cy="123444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① 提出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記録シートを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梅宮に提出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56382" y="190652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1286" y="1463040"/>
            <a:ext cx="2443734" cy="123444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② 照合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梅宮が2人の値を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突き合わせる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939028" y="190652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13932" y="1463040"/>
            <a:ext cx="2443734" cy="123444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③ 抽出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食い違った症例を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リストにする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21674" y="1906524"/>
            <a:ext cx="310896" cy="347472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96578" y="1463040"/>
            <a:ext cx="2443734" cy="1234440"/>
          </a:xfrm>
          <a:prstGeom prst="roundRect">
            <a:avLst/>
          </a:prstGeom>
          <a:solidFill>
            <a:srgbClr val="EAF1FB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④ 合議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2人で標本を見直し</a:t>
            </a:r>
          </a:p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300" b="0">
                <a:solidFill>
                  <a:srgbClr val="262626"/>
                </a:solidFill>
                <a:latin typeface="Yu Gothic"/>
                <a:ea typeface="Yu Gothic"/>
              </a:rPr>
              <a:t>最終値を決める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11091672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>
                <a:solidFill>
                  <a:srgbClr val="1F3864"/>
                </a:solidFill>
                <a:latin typeface="Yu Gothic"/>
                <a:ea typeface="Yu Gothic"/>
              </a:rPr>
              <a:t>食い違いの基準</a:t>
            </a:r>
            <a:r>
              <a:rPr sz="1700" b="1">
                <a:solidFill>
                  <a:srgbClr val="C00000"/>
                </a:solidFill>
                <a:latin typeface="Yu Gothic"/>
                <a:ea typeface="Yu Gothic"/>
              </a:rPr>
              <a:t>【要確認】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429000"/>
            <a:ext cx="11091672" cy="1097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274320" indent="-274320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・HLA class I:スコア(0〜4)が異なる場合</a:t>
            </a:r>
          </a:p>
          <a:p>
            <a:pPr algn="l" marL="274320" indent="-274320">
              <a:lnSpc>
                <a:spcPct val="115000"/>
              </a:lnSpc>
              <a:spcAft>
                <a:spcPts val="800"/>
              </a:spcAft>
            </a:pPr>
            <a:r>
              <a:rPr sz="1700" b="0">
                <a:solidFill>
                  <a:srgbClr val="262626"/>
                </a:solidFill>
                <a:latin typeface="Yu Gothic"/>
                <a:ea typeface="Yu Gothic"/>
              </a:rPr>
              <a:t>・CD8:4視野平均の差が一定以上の場合(基準は検討中)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4880"/>
            <a:ext cx="73152" cy="109728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" y="4754880"/>
            <a:ext cx="11018520" cy="1097280"/>
          </a:xfrm>
          <a:prstGeom prst="rect">
            <a:avLst/>
          </a:prstGeom>
          <a:solidFill>
            <a:srgbClr val="FB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合議で最終値が決まっても、</a:t>
            </a:r>
            <a:r>
              <a:rPr sz="1600" b="1">
                <a:solidFill>
                  <a:srgbClr val="1F3864"/>
                </a:solidFill>
                <a:latin typeface="Yu Gothic"/>
                <a:ea typeface="Yu Gothic"/>
              </a:rPr>
              <a:t>各自が最初に入力した値は書き換えないでください</a:t>
            </a:r>
            <a:r>
              <a:rPr sz="1600" b="0">
                <a:solidFill>
                  <a:srgbClr val="262626"/>
                </a:solidFill>
                <a:latin typeface="Yu Gothic"/>
                <a:ea typeface="Yu Gothic"/>
              </a:rPr>
              <a:t>。</a:t>
            </a:r>
          </a:p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2人の一致度を計算するときは、合議前の元の値を使います。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提出物とスケジュール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91672" cy="340156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377440"/>
                <a:gridCol w="8714232"/>
              </a:tblGrid>
              <a:tr h="56692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提出物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記録シート(Excel)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ファイル名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【要確認】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提出先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【要確認】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締切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C00000"/>
                          </a:solidFill>
                          <a:latin typeface="Yu Gothic"/>
                          <a:ea typeface="Yu Gothic"/>
                        </a:rPr>
                        <a:t>【要確認】</a:t>
                      </a:r>
                    </a:p>
                  </a:txBody>
                  <a:tcPr marL="73152" marR="73152" marT="36576" marB="36576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質問の窓口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>
                          <a:solidFill>
                            <a:srgbClr val="262626"/>
                          </a:solidFill>
                          <a:latin typeface="Yu Gothic"/>
                          <a:ea typeface="Yu Gothic"/>
                        </a:rPr>
                        <a:t>梅宮(手順についての質問のみ。個別症例の判定は相談しない)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【確認用】渡す前に決めること(1/2)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11091672" cy="4206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このスライド以降は梅宮さんの確認用です — 後輩に渡す前に削除してください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1672" cy="44348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320040" indent="-320040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1.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CD8の視野選択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:後輩が独立に選ぶ(推奨)か、梅宮の撮影画像を使うか</a:t>
            </a:r>
          </a:p>
          <a:p>
            <a:pPr algn="l" marL="320040" indent="0">
              <a:lnSpc>
                <a:spcPct val="115000"/>
              </a:lnSpc>
              <a:spcAft>
                <a:spcPts val="900"/>
              </a:spcAft>
            </a:pPr>
            <a:r>
              <a:rPr sz="1300" b="0">
                <a:solidFill>
                  <a:srgbClr val="7F7F7F"/>
                </a:solidFill>
                <a:latin typeface="Yu Gothic"/>
                <a:ea typeface="Yu Gothic"/>
              </a:rPr>
              <a:t>同じ画像をPatholoscopeで数えると機械の計数が同じになり、実質「検証」に戻ってしまう(教授の方針と合わない)</a:t>
            </a:r>
          </a:p>
          <a:p>
            <a:pPr algn="l" marL="320040" indent="-320040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2.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CD8の4視野の取り方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:浸潤先進部のみか、腫瘍内と浸潤先進部の両方か(論文Methodsは両方と読める記載)</a:t>
            </a:r>
          </a:p>
          <a:p>
            <a:pPr algn="l" marL="320040" indent="-320040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3.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HLAの視野ルール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:1人目は症例あたり1〜9視野とばらつきがある(4視野36例・5視野23例・6視野15例・その他12例)。後輩に示すルールが必要</a:t>
            </a:r>
          </a:p>
          <a:p>
            <a:pPr algn="l" marL="320040" indent="-320040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4.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HLAの陽性の定義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:論文Methodsは現在「membranous staining(膜染色)」と記載。実態と合っているか</a:t>
            </a:r>
          </a:p>
          <a:p>
            <a:pPr algn="l" marL="320040" indent="-320040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5.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HLAの観察倍率</a:t>
            </a:r>
          </a:p>
          <a:p>
            <a:pPr algn="l" marL="320040" indent="-320040">
              <a:lnSpc>
                <a:spcPct val="115000"/>
              </a:lnSpc>
              <a:spcAft>
                <a:spcPts val="9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6.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Patholoscopeの自動計数を、1人目は目視で修正していたか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9418320" cy="77724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700" b="1">
                <a:solidFill>
                  <a:srgbClr val="1F3864"/>
                </a:solidFill>
                <a:latin typeface="Yu Gothic"/>
                <a:ea typeface="Yu Gothic"/>
              </a:rPr>
              <a:t>【確認用】渡す前に決めること(2/2)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97280"/>
            <a:ext cx="11091672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12680" y="274320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C00000"/>
                </a:solidFill>
                <a:latin typeface="Yu Gothic"/>
                <a:ea typeface="Yu Gothic"/>
              </a:rPr>
              <a:t>ドラフト(梅宮確認前)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19088"/>
            <a:ext cx="8686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膵癌NACRT研究|免疫染色 第二評価者 作業手順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5912" y="6419088"/>
            <a:ext cx="914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7F7F7F"/>
                </a:solidFill>
                <a:latin typeface="Yu Gothic"/>
                <a:ea typeface="Yu Gothic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43584"/>
            <a:ext cx="11091672" cy="42062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73152"/>
          <a:lstStyle/>
          <a:p>
            <a:pPr algn="ctr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このスライド以降は梅宮さんの確認用です — 後輩に渡す前に削除してください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11091672" cy="23317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 marL="320040" indent="-320040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7.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食い違いの基準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:HLAはスコア不一致で合議(推奨)。CD8は差の閾値をどうするか</a:t>
            </a:r>
          </a:p>
          <a:p>
            <a:pPr algn="l" marL="320040" indent="-320040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8.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盲検化の方法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:群の情報を伏せた症例コード表を、誰が作るか</a:t>
            </a:r>
          </a:p>
          <a:p>
            <a:pPr algn="l" marL="320040" indent="-320040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9.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1人目の撮影視野画像の保存場所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:「画像集」フォルダには解析グラフしかなく、視野の画像は見当たらなかった</a:t>
            </a:r>
          </a:p>
          <a:p>
            <a:pPr algn="l" marL="320040" indent="-320040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10.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第二評価者の氏名</a:t>
            </a: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:論文にイニシャルを記載する(現在は仮に「T.S.」)</a:t>
            </a:r>
          </a:p>
          <a:p>
            <a:pPr algn="l" marL="320040" indent="-320040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262626"/>
                </a:solidFill>
                <a:latin typeface="Yu Gothic"/>
                <a:ea typeface="Yu Gothic"/>
              </a:rPr>
              <a:t>11. </a:t>
            </a: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締切・提出先・ファイル名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251960"/>
            <a:ext cx="11091672" cy="2011680"/>
          </a:xfrm>
          <a:prstGeom prst="rect">
            <a:avLst/>
          </a:prstGeom>
          <a:solidFill>
            <a:srgbClr val="F7F7F7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73152" bIns="73152"/>
          <a:lstStyle/>
          <a:p>
            <a:pPr algn="l">
              <a:lnSpc>
                <a:spcPct val="110000"/>
              </a:lnSpc>
              <a:spcAft>
                <a:spcPts val="200"/>
              </a:spcAft>
            </a:pPr>
            <a:r>
              <a:rPr sz="1500" b="1">
                <a:solidFill>
                  <a:srgbClr val="1F3864"/>
                </a:solidFill>
                <a:latin typeface="Yu Gothic"/>
                <a:ea typeface="Yu Gothic"/>
              </a:rPr>
              <a:t>後輩には伝えない背景データ(1人目の評価より)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Yu Gothic"/>
                <a:ea typeface="Yu Gothic"/>
              </a:rPr>
              <a:t>・0〜9%の帯に15/86症例(17%) → 端の細かい刻みが必須な理由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Yu Gothic"/>
                <a:ea typeface="Yu Gothic"/>
              </a:rPr>
              <a:t>・スコア境界の±5%以内に39/86症例(45%) → 食い違いは多く出る見込み。合議の手順を先に固めておく</a:t>
            </a:r>
          </a:p>
          <a:p>
            <a:pPr algn="l" marL="274320" indent="-274320">
              <a:lnSpc>
                <a:spcPct val="110000"/>
              </a:lnSpc>
              <a:spcAft>
                <a:spcPts val="200"/>
              </a:spcAft>
            </a:pPr>
            <a:r>
              <a:rPr sz="1400" b="0">
                <a:solidFill>
                  <a:srgbClr val="262626"/>
                </a:solidFill>
                <a:latin typeface="Yu Gothic"/>
                <a:ea typeface="Yu Gothic"/>
              </a:rPr>
              <a:t>・論文Methodsの現在の記載 “assessed independently by two observers” は、今回の方針(同じ操作を独立に)なら実態と一致する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